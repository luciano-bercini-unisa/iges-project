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Urbanist Light"/>
      <p:regular r:id="rId24"/>
      <p:bold r:id="rId25"/>
      <p:italic r:id="rId26"/>
      <p:boldItalic r:id="rId27"/>
    </p:embeddedFont>
    <p:embeddedFont>
      <p:font typeface="Urbanist Medium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  <p:embeddedFont>
      <p:font typeface="JetBrains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E90415-4564-4712-8202-AACF5B916C1B}">
  <a:tblStyle styleId="{2AE90415-4564-4712-8202-AACF5B916C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Ligh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Light-italic.fntdata"/><Relationship Id="rId25" Type="http://schemas.openxmlformats.org/officeDocument/2006/relationships/font" Target="fonts/UrbanistLight-bold.fntdata"/><Relationship Id="rId28" Type="http://schemas.openxmlformats.org/officeDocument/2006/relationships/font" Target="fonts/UrbanistMedium-regular.fntdata"/><Relationship Id="rId27" Type="http://schemas.openxmlformats.org/officeDocument/2006/relationships/font" Target="fonts/Urbanist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boldItalic.fntdata"/><Relationship Id="rId30" Type="http://schemas.openxmlformats.org/officeDocument/2006/relationships/font" Target="fonts/UrbanistMedium-italic.fntdata"/><Relationship Id="rId11" Type="http://schemas.openxmlformats.org/officeDocument/2006/relationships/slide" Target="slides/slide5.xml"/><Relationship Id="rId33" Type="http://schemas.openxmlformats.org/officeDocument/2006/relationships/font" Target="fonts/Urbanist-bold.fntdata"/><Relationship Id="rId10" Type="http://schemas.openxmlformats.org/officeDocument/2006/relationships/slide" Target="slides/slide4.xml"/><Relationship Id="rId32" Type="http://schemas.openxmlformats.org/officeDocument/2006/relationships/font" Target="fonts/Urbanist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-italic.fntdata"/><Relationship Id="rId15" Type="http://schemas.openxmlformats.org/officeDocument/2006/relationships/slide" Target="slides/slide9.xml"/><Relationship Id="rId37" Type="http://schemas.openxmlformats.org/officeDocument/2006/relationships/font" Target="fonts/JetBrainsMono-bold.fntdata"/><Relationship Id="rId14" Type="http://schemas.openxmlformats.org/officeDocument/2006/relationships/slide" Target="slides/slide8.xml"/><Relationship Id="rId36" Type="http://schemas.openxmlformats.org/officeDocument/2006/relationships/font" Target="fonts/JetBrainsMono-regular.fntdata"/><Relationship Id="rId17" Type="http://schemas.openxmlformats.org/officeDocument/2006/relationships/slide" Target="slides/slide11.xml"/><Relationship Id="rId39" Type="http://schemas.openxmlformats.org/officeDocument/2006/relationships/font" Target="fonts/JetBrains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JetBrains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b9f49384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b9f49384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093baeb71254cca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4093baeb71254cca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093baeb71254cca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4093baeb71254cca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4093baeb71254cca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4093baeb71254cca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4093baeb71254cca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4093baeb71254cca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093baeb71254cca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4093baeb71254cca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76" y="1379339"/>
            <a:ext cx="115814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INGEGNERIA, GESTIONE ED EVOLUZIONE SOFTWARE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05276" y="1893689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EVOLUZIONE DI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SMARTBUGS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933700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Meccanismo Intelligente di Selezione dei Tool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488060"/>
            <a:ext cx="11030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Luciano Bercini</a:t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0522501684</a:t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5494060"/>
            <a:ext cx="1103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Maggio </a:t>
            </a:r>
            <a:r>
              <a:rPr b="0" i="0" lang="en-US" sz="17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81025" y="1589875"/>
            <a:ext cx="109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SmartBugs è un framework estensibile per l'analisi automatizzata delle vulnerabilità negli smart contract Ethereum.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Il sistema offre l’esecuzione di tutti i tool disponibili o di un sottoinsieme scelto manualmente dall'utente. 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268951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Il Problema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3193150"/>
            <a:ext cx="10482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Seppur flessibile, SmartBugs non ha un meccanismo intelligente per selezionare lo strumento più appropriato in base alle caratteristiche dello smart contract in input. Questo comporta: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418223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Inefficienza computazionale (overhead inutile)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725150"/>
            <a:ext cx="604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Analisi ridondanti o non pertinenti 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526808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Mancanza di adattabilità alle caratteristiche del codice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1822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47251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26808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Contesto del Progetto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title="50234798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350" y="3801638"/>
            <a:ext cx="2078025" cy="207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962025" y="58110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Necessità di esperienza da parte dell’utente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58110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81025" y="1488913"/>
            <a:ext cx="109014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Introduzione di una modalità intelligente di selezione dello strumento più pertinente in base alle caratteristiche del contratto in input, andando ad utilizzare dei modelli di machine learning già addestrati.</a:t>
            </a:r>
            <a:b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Più nello specifico, la soluzione propone: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 Light"/>
              <a:buChar char="-"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Integrazione di SCsVulLyzer per l’estrazione delle feature dei contratti.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 Light"/>
              <a:buChar char="-"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La selezione del sottoinsieme rilevante di queste feature per i modelli.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 Light"/>
              <a:buChar char="-"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L’esecuzione dei modelli di machine learning (ognuno specializzato per una determinata categoria di vulnerabilità).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 Light"/>
              <a:buChar char="-"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Aggregazione dei risultati per la costruzione automatica di una lista di tool da eseguire.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 Light"/>
              <a:buChar char="-"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L’invocazione di SmartBugs con i tool identificati.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19150" y="581025"/>
            <a:ext cx="113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Soluzione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28600" y="466091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Vincoli della modifica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62025" y="513083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Modularità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5673750"/>
            <a:ext cx="604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Backward compatibility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621668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Minimizzazione di modifiche all’attuale pipeline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513083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567376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6216687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5619750" y="260315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305276" y="2927002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Fase di Reverse Engineering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3946177"/>
            <a:ext cx="1103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Comprendere l'architettura, identificare i componenti chiave e valutare come la modifica proposta possa essere integrata.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819150" y="581025"/>
            <a:ext cx="5540692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Panoramica Architetturale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91125" y="490350"/>
            <a:ext cx="65400" cy="651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1454175"/>
            <a:ext cx="852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SmartBugs segue un'architettura modulare in Python, orchestrata dal modulo sb.smartbugs.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33475" y="2112450"/>
            <a:ext cx="57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Moduli Chiave: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2746725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sb.cli: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Entry point e parsing argomenti.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62025" y="3289650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sb.settings: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Gestione configurazioni globali.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3832575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sb.tools/tasks: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Astrazione di tool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 unità do esecuzione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62025" y="4375500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sb.docker: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Interfaccia con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Docker.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4918425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sb.solidity: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Risoluzione compilatore e pragma.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81025" y="2746725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328965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3832575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437550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4918425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725" y="2112450"/>
            <a:ext cx="6186849" cy="3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557725" y="5461350"/>
            <a:ext cx="6186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Package Diagram ottenuto ispezionando i moduli e le loro interazioni (import), enfatizzando il ruolo di orchestrazione di sb.smartbugs.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5398450"/>
            <a:ext cx="513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Esecuzione task.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539845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95512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95512"/>
            <a:ext cx="34861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95512"/>
            <a:ext cx="34861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71550" y="3281362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Task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71550" y="379571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Unità fondamentale di esecuzione. Bridge tra file di input, tool selezionato e configurazioni globali.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743450" y="3281362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Tool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743450" y="379571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Modella un singolo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analizzatore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 Incapsula metadati (versione, immagine Docker) e logica di invocazione.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515350" y="3281362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Settings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515350" y="3795712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Configurazione globale. Gestisce parametri di runtime, limiti di CPU/Memory e directory dei risultati.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6241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6241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624137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Astrazioni Core del Sistema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576275" y="149416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Quantificazione delle interazioni tra i moduli core per identificare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più in profondità le relazioni.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81025" y="543671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Risultato: sb.smartbugs emerge come l'orchestratore centrale con il più alto grado di dipendenz</a:t>
            </a:r>
            <a:r>
              <a:rPr i="1" lang="en-US" sz="1500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</a:t>
            </a:r>
            <a:r>
              <a:rPr b="0" i="1" lang="en-US" sz="15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</a:t>
            </a:r>
            <a:endParaRPr/>
          </a:p>
        </p:txBody>
      </p:sp>
      <p:graphicFrame>
        <p:nvGraphicFramePr>
          <p:cNvPr id="176" name="Google Shape;176;p19"/>
          <p:cNvGraphicFramePr/>
          <p:nvPr/>
        </p:nvGraphicFramePr>
        <p:xfrm>
          <a:off x="581100" y="2084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{2AE90415-4564-4712-8202-AACF5B916C1B}</a:tableStyleId>
              </a:tblPr>
              <a:tblGrid>
                <a:gridCol w="2048175"/>
                <a:gridCol w="649050"/>
                <a:gridCol w="1269350"/>
                <a:gridCol w="1557775"/>
                <a:gridCol w="937475"/>
                <a:gridCol w="980775"/>
                <a:gridCol w="1254925"/>
                <a:gridCol w="1153875"/>
                <a:gridCol w="1169050"/>
              </a:tblGrid>
              <a:tr h="4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Modulo (Da \ 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cli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settings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smartbugs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docker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solidity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cli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settings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smartbugs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</a:tr>
              <a:tr h="47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19"/>
          <p:cNvSpPr txBox="1"/>
          <p:nvPr/>
        </p:nvSpPr>
        <p:spPr>
          <a:xfrm>
            <a:off x="819150" y="581025"/>
            <a:ext cx="113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Dependency Matrix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81025" y="1809750"/>
            <a:ext cx="522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L'analisi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del sequence diagram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ha rivelato una rigida sequenza lineare: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62025" y="260985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Inizializzazione: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CLI -&gt; Settings.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62025" y="3152775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Preparazione: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Caricamento tool specificati e scansione file.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62025" y="3695700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Task Generation: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Creazione 1-to-1 tra file e tool scelti.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62025" y="4238625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Execution: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Orchestrazione container Docker tramite sb.analysis.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26098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31527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36957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42386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Workflow di Esecuzione Attuale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8300" y="1227400"/>
            <a:ext cx="5910499" cy="50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81025" y="5324475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Punto di estensione identificato: Subito dopo l’inizializzazione, prima di caricare i tool.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6962700" y="1693925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Il flusso evoluto automatizza la decisione: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962700" y="3903725"/>
            <a:ext cx="522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Vantaggio: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Risparmio risorse analizzando solo ciò che è necessario.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267500" y="2189225"/>
            <a:ext cx="7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1.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343700" y="21892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Estrazione feature (AST, Opcodes, Bytecode)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210350" y="2494025"/>
            <a:ext cx="1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2.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343700" y="24940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Selezione del sottoinsieme richiesto (41 feature)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219875" y="2798825"/>
            <a:ext cx="1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3.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343700" y="27988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Esecuzione dei modelli ML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210350" y="3103625"/>
            <a:ext cx="1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4.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343700" y="31036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Aggregazione e filtraggio dei tool predetti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210350" y="3408425"/>
            <a:ext cx="13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5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343700" y="34084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Invocazione pipeline originale SmartBugs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Nuovo Workflow Intelligente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25" y="1328925"/>
            <a:ext cx="6058126" cy="485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5987"/>
            <a:ext cx="34861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85987"/>
            <a:ext cx="34861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85987"/>
            <a:ext cx="34861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971550" y="32718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 1: Features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71550" y="3786187"/>
            <a:ext cx="2705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Integrazione di un m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odulo di estrazione feature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(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SCsVulLyzer)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per l'estrazione automatica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delle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feature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rilevanti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dagli smart contract.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743450" y="32718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 2: ML Models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743450" y="3786187"/>
            <a:ext cx="2705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Integrazione di 8 modelli pre-trained (joblib) per predire il tool ottimale per ogni categoria di vulnerabilità.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515350" y="327183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 3: Workflow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515350" y="3786187"/>
            <a:ext cx="2705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Integrazione dei due precedenti moduli nella pipeline di SmartBugs tramite un nuovo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comando intelligente.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614612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61461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614612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819150" y="581025"/>
            <a:ext cx="1133141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Evoluzione: Selezione Intelligente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5619750" y="260315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305276" y="2927002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Fase di Impact Analysis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81025" y="394617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Valutazione della propagazione delle modifiche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 txBox="1"/>
          <p:nvPr/>
        </p:nvSpPr>
        <p:spPr>
          <a:xfrm>
            <a:off x="819150" y="581025"/>
            <a:ext cx="554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Risultati dell'Analisi di Impatto su CR3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81025" y="581025"/>
            <a:ext cx="5715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581025" y="2257425"/>
            <a:ext cx="105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Riportiamo il caso più complesso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(CR3) perché gli altri due sono semplicemente moduli aggiunti senza modifiche alla pipeline.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81025" y="2702138"/>
            <a:ext cx="57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 3: Identificazione </a:t>
            </a: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Starting Impact Set (SIS)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62025" y="3933825"/>
            <a:ext cx="1026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sb.cli: la linea di comando deve essere modificate per accettare i nuovi parametri (e.g. la flag di smart execution).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962025" y="4476750"/>
            <a:ext cx="983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sb.settings: il modulo deve essere ampliato per contenere anche i nuovi parametri di runtime.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62025" y="5019675"/>
            <a:ext cx="101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sb.smartbugs: la logica di orchestrazione deve essere ampliata per eseguire l’estrazione feature e l’inferenza dei modelli prima di passare alla sua normale esecuzione.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581025" y="39338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81025" y="44767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81025" y="50196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81025" y="3179388"/>
            <a:ext cx="1052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Il SIS è stato identificato tramite un’analisi della change request che è andata a mappare i concetti introdotti dalla CR sui moduli esistenti. Questa analisi è stata supportata dal package diagram e dal class diagram, insieme al codice sorgente.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819150" y="581025"/>
            <a:ext cx="554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Risultati dell'Analisi di Impatto su CR3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81025" y="581025"/>
            <a:ext cx="5730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581025" y="2257425"/>
            <a:ext cx="105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Riportiamo il caso più complesso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(CR3) perché gli altri due sono semplicemente moduli aggiunti senza modifiche alla pipeline.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81025" y="2702138"/>
            <a:ext cx="57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 3: </a:t>
            </a: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Identificazione </a:t>
            </a: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Candidate </a:t>
            </a:r>
            <a:r>
              <a:rPr lang="en-US" sz="21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 Set (CIS)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81025" y="6019800"/>
            <a:ext cx="55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Recall = 100%</a:t>
            </a:r>
            <a:endParaRPr sz="1350">
              <a:solidFill>
                <a:srgbClr val="DEFF9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Precision = 100%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81025" y="3166075"/>
            <a:ext cx="105294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Il CIS è stato derivato dal SIS attraverso la Matrice delle Dipendenze, seguita da un'ispezione manuale del codice sorgente per evitare la sovrastima dei moduli impattati (over-estimation).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L'analisi delle dipendenze suggeriva un possibile impatto su 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sb.tasks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 che dipende da 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sb.settings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 L'ispezione manuale ha però rivelato che la classe Task agisce come puro aggregatore di dati (tool, file e settings) e che quindi non era necessario includerlo nel CIS.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Grazie a questo filtro, il CIS identificato ha coinciso esattamente con i moduli del SIS. A valle della fase di sviluppo, l'Actual Impact Set (AIS) ha confermato pienamente la stima iniziale.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/>
        </p:nvSpPr>
        <p:spPr>
          <a:xfrm>
            <a:off x="819150" y="581025"/>
            <a:ext cx="55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Strategia di Testing</a:t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581025" y="581025"/>
            <a:ext cx="44400" cy="60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81025" y="2257425"/>
            <a:ext cx="108108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La strategia di Testing combina test di unità, di componente, di integrazione e di regressione per garantire sia la correttezza delle nuove funzioni sia la stabilità del sistema originale.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Criteri di adeguatezza: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 criteri adottati sono di tipo funzionale e orientati al cambiamento (change-oriented), focalizzandosi sulla copertura dei Change Request piuttosto che sulla copertura strutturale esaustiva.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Infrastruttura: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È stata riutilizzata e allargata l'infrastruttura di test esistente basata su pytest.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/>
        </p:nvSpPr>
        <p:spPr>
          <a:xfrm>
            <a:off x="819150" y="581025"/>
            <a:ext cx="554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Progettazione dei Test (Category Partition) </a:t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581025" y="581025"/>
            <a:ext cx="57300" cy="11049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581025" y="2257425"/>
            <a:ext cx="73257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Metodologia: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È stata utilizzata la tecnica della Category Partition per derivare casi di test rappresentativi per il nuovo workflow intelligente.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Parametrizzazione: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Sono stati definiti parametri chiave come l'input del contratto,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 stato dell'estrazione delle feature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 le predizioni del modello e la modalità di esecuzione.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 Post-Modifica: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Sono stati derivati 10 nuovi casi di test (da TC-POST-01 a TC-POST-10) per validare le casistiche di successo, gestione errori e filtraggio dei tool.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 Pre-Modifica: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Gli 11 casi di test originali dell'orchestrazione (da TC-PRE-01 a TC-PRE-11) sono stati preservati e classificati come "Unchanged" per la regressione.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2025" y="158813"/>
            <a:ext cx="273367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4975" y="2202925"/>
            <a:ext cx="2727787" cy="195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4975" y="4247049"/>
            <a:ext cx="3824849" cy="234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/>
        </p:nvSpPr>
        <p:spPr>
          <a:xfrm>
            <a:off x="819150" y="581025"/>
            <a:ext cx="55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Risultati Testing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581025" y="581025"/>
            <a:ext cx="65100" cy="690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646125" y="1680500"/>
            <a:ext cx="105375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 di Regressione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Verificare che l'orchestrazione originale di SmartBugs (collezione file, caricamento tool, generazione task) non subisse alterazioni quando la modalità intelligente è disabilitata.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Esito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Il 100% dei test di regressione eseguiti ha avuto successo.  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Validazione Nuove Funzionalità (CR 1, 2 e 3)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Sono stati eseguiti 64 test totali (Unitari e di Integrazione) sui nuovi moduli sb.features, sb.models, sb.cli e sulla nuova logica in sb.smartbugs.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Test di Integrazione: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Verificata con successo l'intera pipeline logica: dal parsing dei nuovi parametri CLI (--smart-select), all'estrazione, fino all'aggregazione delle predizioni ML e all'inserimento nel workflow.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Esito: </a:t>
            </a:r>
            <a:r>
              <a:rPr lang="en-US" sz="150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Tutti i 64 test sono passati con successo.</a:t>
            </a:r>
            <a:endParaRPr sz="1500">
              <a:solidFill>
                <a:srgbClr val="DAFFDE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/>
        </p:nvSpPr>
        <p:spPr>
          <a:xfrm>
            <a:off x="-75" y="309285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Grazie per l’attenzione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